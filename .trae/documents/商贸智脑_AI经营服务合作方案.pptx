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4114800"/>
            <a:ext cx="3200400" cy="3200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01168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972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53035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B8A6"/>
                </a:solidFill>
                <a:latin typeface="微软雅黑"/>
                <a:ea typeface="微软雅黑"/>
              </a:rPr>
              <a:t>商贸智脑  TradeMind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2377440" cy="347472"/>
          </a:xfrm>
          <a:prstGeom prst="roundRect">
            <a:avLst>
              <a:gd name="adj" fmla="val 12000"/>
            </a:avLst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98448"/>
            <a:ext cx="23774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4B8A6"/>
                </a:solidFill>
                <a:latin typeface="微软雅黑"/>
                <a:ea typeface="微软雅黑"/>
              </a:rPr>
              <a:t>AI 经营服务合作方案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商贸智脑（TradeMind）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B8A6"/>
                </a:solidFill>
                <a:latin typeface="微软雅黑"/>
                <a:ea typeface="微软雅黑"/>
              </a:rPr>
              <a:t>AI经营服务合作方案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4A3B8"/>
                </a:solidFill>
                <a:latin typeface="微软雅黑"/>
                <a:ea typeface="微软雅黑"/>
              </a:rPr>
              <a:t>联合市场、品牌，共同赋能商户数字化经营升级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1307592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1307592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>
                <a:solidFill>
                  <a:srgbClr val="14B8A6"/>
                </a:solidFill>
                <a:latin typeface="微软雅黑"/>
                <a:ea typeface="微软雅黑"/>
              </a:rPr>
              <a:t>批发市场物业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12264" y="5120640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5138928"/>
            <a:ext cx="1143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>
                <a:solidFill>
                  <a:srgbClr val="14B8A6"/>
                </a:solidFill>
                <a:latin typeface="微软雅黑"/>
                <a:ea typeface="微软雅黑"/>
              </a:rPr>
              <a:t>市场运营方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9856" y="5120640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5138928"/>
            <a:ext cx="11430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>
                <a:solidFill>
                  <a:srgbClr val="14B8A6"/>
                </a:solidFill>
                <a:latin typeface="微软雅黑"/>
                <a:ea typeface="微软雅黑"/>
              </a:rPr>
              <a:t>品牌订货会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5120640"/>
            <a:ext cx="1801367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5138928"/>
            <a:ext cx="1801367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>
                <a:solidFill>
                  <a:srgbClr val="14B8A6"/>
                </a:solidFill>
                <a:latin typeface="微软雅黑"/>
                <a:ea typeface="微软雅黑"/>
              </a:rPr>
              <a:t>行业协会 / 商圈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  <a:ea typeface="微软雅黑"/>
              </a:rPr>
              <a:t>杭州巨猿科技有限公司  ·  trademind.com.cn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传统批发生意正在面临经营挑战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371600"/>
            <a:ext cx="502920" cy="50292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4B8A6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41732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微软雅黑"/>
                <a:ea typeface="微软雅黑"/>
              </a:rPr>
              <a:t>商品 SKU 复杂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品类多、规格杂，管理成本高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371600"/>
            <a:ext cx="502920" cy="50292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1732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4B8A6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41732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微软雅黑"/>
                <a:ea typeface="微软雅黑"/>
              </a:rPr>
              <a:t>库存依靠经验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缺货与积压并存，资金占用重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09728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83879" y="1371600"/>
            <a:ext cx="502920" cy="50292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41732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4B8A6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141732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微软雅黑"/>
                <a:ea typeface="微软雅黑"/>
              </a:rPr>
              <a:t>开单效率偏低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10312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手工录单慢，高峰期易出错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24612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14600" y="3520440"/>
            <a:ext cx="502920" cy="50292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56616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4B8A6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5661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微软雅黑"/>
                <a:ea typeface="微软雅黑"/>
              </a:rPr>
              <a:t>客户维护困难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25196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复购周期不清，跟进靠记忆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246120"/>
            <a:ext cx="32918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3520440"/>
            <a:ext cx="502920" cy="50292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566160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14B8A6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56616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微软雅黑"/>
                <a:ea typeface="微软雅黑"/>
              </a:rPr>
              <a:t>缺少经营数据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251960"/>
            <a:ext cx="2834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决策凭感觉，缺少客观分析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生意越来越复杂，但管理方式仍停留在传统经验阶段。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商贸智脑——批发老板的AI经营助手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通过 AI 技术，帮助商户把重复工作交给智能助手，专注生意增长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8760" y="187452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0574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开单更快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语音 / 图片快速生成订单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160520"/>
            <a:ext cx="137160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178808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4B8A6"/>
                </a:solidFill>
                <a:latin typeface="微软雅黑"/>
                <a:ea typeface="微软雅黑"/>
              </a:rPr>
              <a:t>AI 录单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554480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3400" y="187452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0574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0175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库存更准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204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实时掌握库存状态与预警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160520"/>
            <a:ext cx="137160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4178808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4B8A6"/>
                </a:solidFill>
                <a:latin typeface="微软雅黑"/>
                <a:ea typeface="微软雅黑"/>
              </a:rPr>
              <a:t>库存洞察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554480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8040" y="187452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0574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175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客户更清晰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分析购买习惯与复购周期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160520"/>
            <a:ext cx="137160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178808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4B8A6"/>
                </a:solidFill>
                <a:latin typeface="微软雅黑"/>
                <a:ea typeface="微软雅黑"/>
              </a:rPr>
              <a:t>客户画像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554480"/>
            <a:ext cx="2651760" cy="31089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12680" y="187452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20574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0175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生意更聪明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204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AI 提供可执行经营建议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4160520"/>
            <a:ext cx="137160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4178808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14B8A6"/>
                </a:solidFill>
                <a:latin typeface="微软雅黑"/>
                <a:ea typeface="微软雅黑"/>
              </a:rPr>
              <a:t>经营顾问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0D9488"/>
                </a:solidFill>
                <a:latin typeface="微软雅黑"/>
                <a:ea typeface="微软雅黑"/>
              </a:rPr>
              <a:t>让老板把重复工作交给 AI，把精力放在生意增长上。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不是推广软件，而是提供商户增值服务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058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43000"/>
            <a:ext cx="103327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联合市场、品牌方，为商户提供免费的 AI 经营升级服务，帮助商户提升效率，提升市场/品牌服务价值。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352044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合作方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9488"/>
                </a:solidFill>
                <a:latin typeface="微软雅黑"/>
                <a:ea typeface="微软雅黑"/>
              </a:rPr>
              <a:t>提供商户触达渠道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市场 · 品牌 · 协会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945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35204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TradeMind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718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9488"/>
                </a:solidFill>
                <a:latin typeface="微软雅黑"/>
                <a:ea typeface="微软雅黑"/>
              </a:rPr>
              <a:t>提供 AI 经营服务能力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6576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诊断 · 体验 · 赋能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21945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2194560"/>
            <a:ext cx="3520440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9" y="24688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共同目标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297180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D9488"/>
                </a:solidFill>
                <a:latin typeface="微软雅黑"/>
                <a:ea typeface="微软雅黑"/>
              </a:rPr>
              <a:t>帮助商户完成数字化升级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36576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服务升级 · 价值共创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80"/>
            <a:ext cx="3520440" cy="10515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D9488"/>
                </a:solidFill>
                <a:latin typeface="微软雅黑"/>
                <a:ea typeface="微软雅黑"/>
              </a:rPr>
              <a:t>低成本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035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无需重资产投入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754880"/>
            <a:ext cx="3520440" cy="10515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8920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D9488"/>
                </a:solidFill>
                <a:latin typeface="微软雅黑"/>
                <a:ea typeface="微软雅黑"/>
              </a:rPr>
              <a:t>低风险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3035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先体验再扩大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4754880"/>
            <a:ext cx="3520440" cy="105156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8920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D9488"/>
                </a:solidFill>
                <a:latin typeface="微软雅黑"/>
                <a:ea typeface="微软雅黑"/>
              </a:rPr>
              <a:t>高价值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53035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服务能力立刻可见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市场物业 × 商贸智脑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822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B8A6"/>
                </a:solidFill>
                <a:latin typeface="微软雅黑"/>
                <a:ea typeface="微软雅黑"/>
              </a:rPr>
              <a:t>打造 AI 数字化服务市场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566160" cy="4480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32004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物业提供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4048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048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317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商户通知渠道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0906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906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175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活动组织支持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7764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764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033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市场资源协调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325880"/>
            <a:ext cx="3566160" cy="4480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15544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600200"/>
            <a:ext cx="32004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TradeMind 提供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0" y="24048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4048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3317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免费 AI 经营诊断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0" y="30906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0906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0175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商户经营指导</a:t>
            </a:r>
          </a:p>
        </p:txBody>
      </p:sp>
      <p:sp>
        <p:nvSpPr>
          <p:cNvPr id="30" name="Oval 29"/>
          <p:cNvSpPr/>
          <p:nvPr/>
        </p:nvSpPr>
        <p:spPr>
          <a:xfrm>
            <a:off x="4754880" y="37764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7764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7033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AI 工具体验</a:t>
            </a:r>
          </a:p>
        </p:txBody>
      </p:sp>
      <p:sp>
        <p:nvSpPr>
          <p:cNvPr id="33" name="Oval 32"/>
          <p:cNvSpPr/>
          <p:nvPr/>
        </p:nvSpPr>
        <p:spPr>
          <a:xfrm>
            <a:off x="4754880" y="44622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4622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3891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F172A"/>
                </a:solidFill>
                <a:latin typeface="微软雅黑"/>
                <a:ea typeface="微软雅黑"/>
              </a:rPr>
              <a:t>数字化培训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59" y="1325880"/>
            <a:ext cx="3566160" cy="4480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21039" y="1554480"/>
            <a:ext cx="3200400" cy="5029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39" y="1600200"/>
            <a:ext cx="32004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物业获得</a:t>
            </a:r>
          </a:p>
        </p:txBody>
      </p:sp>
      <p:sp>
        <p:nvSpPr>
          <p:cNvPr id="39" name="Oval 38"/>
          <p:cNvSpPr/>
          <p:nvPr/>
        </p:nvSpPr>
        <p:spPr>
          <a:xfrm>
            <a:off x="8503919" y="24048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19" y="24048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3317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提升市场服务能力</a:t>
            </a:r>
          </a:p>
        </p:txBody>
      </p:sp>
      <p:sp>
        <p:nvSpPr>
          <p:cNvPr id="42" name="Oval 41"/>
          <p:cNvSpPr/>
          <p:nvPr/>
        </p:nvSpPr>
        <p:spPr>
          <a:xfrm>
            <a:off x="8503919" y="30906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30906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399" y="30175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增强商户满意度</a:t>
            </a:r>
          </a:p>
        </p:txBody>
      </p:sp>
      <p:sp>
        <p:nvSpPr>
          <p:cNvPr id="45" name="Oval 44"/>
          <p:cNvSpPr/>
          <p:nvPr/>
        </p:nvSpPr>
        <p:spPr>
          <a:xfrm>
            <a:off x="8503919" y="3776472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19" y="3776472"/>
            <a:ext cx="256032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399" y="370332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打造数字化市场形象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品牌订货会 × 商贸智脑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822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B8A6"/>
                </a:solidFill>
                <a:latin typeface="微软雅黑"/>
                <a:ea typeface="微软雅黑"/>
              </a:rPr>
              <a:t>增强经销商服务能力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品牌方提供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10312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经销商触达机会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606039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06039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06039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75569"/>
                </a:solidFill>
                <a:latin typeface="微软雅黑"/>
                <a:ea typeface="微软雅黑"/>
              </a:rPr>
              <a:t>订货会现场场景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F172A"/>
                </a:solidFill>
                <a:latin typeface="微软雅黑"/>
                <a:ea typeface="微软雅黑"/>
              </a:rPr>
              <a:t>TradeMind 提供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●  经销商 AI 经营体验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●  商品管理优化建议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  <a:ea typeface="微软雅黑"/>
              </a:rPr>
              <a:t>●  客户经营提升方案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B8A6"/>
                </a:solidFill>
                <a:latin typeface="微软雅黑"/>
                <a:ea typeface="微软雅黑"/>
              </a:rPr>
              <a:t>品牌获得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增强经销商粘性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319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206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B8A6"/>
                </a:solidFill>
                <a:latin typeface="微软雅黑"/>
                <a:ea typeface="微软雅黑"/>
              </a:rPr>
              <a:t>品牌获得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7091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提升品牌服务价值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93192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9" y="4206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4B8A6"/>
                </a:solidFill>
                <a:latin typeface="微软雅黑"/>
                <a:ea typeface="微软雅黑"/>
              </a:rPr>
              <a:t>品牌获得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47091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打造数字化品牌形象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商户AI经营升级体验流程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063240"/>
            <a:ext cx="9784080" cy="54864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788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594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8016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50876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F172A"/>
                </a:solidFill>
                <a:latin typeface="微软雅黑"/>
                <a:ea typeface="微软雅黑"/>
              </a:rPr>
              <a:t>扫码参与体验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6596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现场扫码即可开始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80" y="2926080"/>
            <a:ext cx="320040" cy="320040"/>
          </a:xfrm>
          <a:prstGeom prst="rightArrow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2788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594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84048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8" y="406908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F172A"/>
                </a:solidFill>
                <a:latin typeface="微软雅黑"/>
                <a:ea typeface="微软雅黑"/>
              </a:rPr>
              <a:t>填写基础经营信息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52628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简要了解经营现状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54880" y="2926080"/>
            <a:ext cx="320040" cy="320040"/>
          </a:xfrm>
          <a:prstGeom prst="rightArrow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788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880360"/>
            <a:ext cx="594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128016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150876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F172A"/>
                </a:solidFill>
                <a:latin typeface="微软雅黑"/>
                <a:ea typeface="微软雅黑"/>
              </a:rPr>
              <a:t>生成AI经营建议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196596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即时输出诊断建议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40880" y="2926080"/>
            <a:ext cx="320040" cy="320040"/>
          </a:xfrm>
          <a:prstGeom prst="rightArrow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0" y="2788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880360"/>
            <a:ext cx="594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84048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406908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F172A"/>
                </a:solidFill>
                <a:latin typeface="微软雅黑"/>
                <a:ea typeface="微软雅黑"/>
              </a:rPr>
              <a:t>体验AI开单/库存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452628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感受效率提升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26880" y="2926080"/>
            <a:ext cx="320040" cy="320040"/>
          </a:xfrm>
          <a:prstGeom prst="rightArrow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32720" y="2788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2880360"/>
            <a:ext cx="594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1280160"/>
            <a:ext cx="2148840" cy="123444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6648" y="1508760"/>
            <a:ext cx="1920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F172A"/>
                </a:solidFill>
                <a:latin typeface="微软雅黑"/>
                <a:ea typeface="微软雅黑"/>
              </a:rPr>
              <a:t>深入使用商贸智脑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1965960"/>
            <a:ext cx="1920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  <a:ea typeface="微软雅黑"/>
              </a:rPr>
              <a:t>持续经营赋能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设计说明：流程箭头图 · 强调「轻体验、快反馈、再深化」的低门槛参与路径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三方共赢合作模式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356616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356616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市场 / 品牌方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94A3B8"/>
                </a:solidFill>
                <a:latin typeface="微软雅黑"/>
                <a:ea typeface="微软雅黑"/>
              </a:rPr>
              <a:t>获得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增值服务能力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1188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4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客户关系增强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数字化升级标签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188720"/>
            <a:ext cx="356616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188720"/>
            <a:ext cx="356616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3716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商户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8600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94A3B8"/>
                </a:solidFill>
                <a:latin typeface="微软雅黑"/>
                <a:ea typeface="微软雅黑"/>
              </a:rPr>
              <a:t>获得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83464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97180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降低经营压力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61188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74904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提升日常效率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38912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52628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AI 辅助决策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1188720"/>
            <a:ext cx="356616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1188720"/>
            <a:ext cx="356616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9" y="137160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TradeMind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228600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94A3B8"/>
                </a:solidFill>
                <a:latin typeface="微软雅黑"/>
                <a:ea typeface="微软雅黑"/>
              </a:rPr>
              <a:t>获得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79" y="283464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39" y="297180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服务商户机会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79" y="361188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9" y="374904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用户体验机会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79" y="438912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9" y="4526280"/>
            <a:ext cx="2743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◆  行业案例沉淀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548640"/>
            <a:ext cx="2011680" cy="20116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182880"/>
            <a:ext cx="1280160" cy="1280160"/>
          </a:xfrm>
          <a:prstGeom prst="ellipse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669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"/>
            <a:ext cx="73152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00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F172A"/>
                </a:solidFill>
                <a:latin typeface="微软雅黑"/>
                <a:ea typeface="微软雅黑"/>
              </a:rPr>
              <a:t>低门槛启动合作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2011680" cy="384048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78992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第一阶段 · 试点启动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F172A"/>
                </a:solidFill>
                <a:latin typeface="微软雅黑"/>
                <a:ea typeface="微软雅黑"/>
              </a:rPr>
              <a:t>联合举办：「商户 AI 经营体验活动」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建议规模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D9488"/>
                </a:solidFill>
                <a:latin typeface="微软雅黑"/>
                <a:ea typeface="微软雅黑"/>
              </a:rPr>
              <a:t>20 – 50 家商户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微软雅黑"/>
                <a:ea typeface="微软雅黑"/>
              </a:rPr>
              <a:t>小范围试点，快速验证效果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2860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46320" y="254203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578608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4231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活动体验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现场参与 AI 经营体验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28600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254203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578608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231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商户反馈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收集真实经营反馈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46320" y="359359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630168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4747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标杆案例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7947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打造可复用成功样板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80" y="359359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630168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47472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扩大合作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7947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  <a:ea typeface="微软雅黑"/>
              </a:rPr>
              <a:t>复制到更多商户/场次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4B8A6"/>
                </a:solidFill>
                <a:latin typeface="微软雅黑"/>
                <a:ea typeface="微软雅黑"/>
              </a:rPr>
              <a:t>合作路径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活动体验  →  商户反馈  →  打造标杆案例  →  扩大合作范围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商贸智脑 TradeMind  ·  AI经营服务合作方案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38912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5943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4B8A6"/>
                </a:solidFill>
                <a:latin typeface="微软雅黑"/>
                <a:ea typeface="微软雅黑"/>
              </a:rPr>
              <a:t>商贸智脑  TradeMind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8288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共同推动批发行业 AI 经营升级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4A3B8"/>
                </a:solidFill>
                <a:latin typeface="微软雅黑"/>
                <a:ea typeface="微软雅黑"/>
              </a:rPr>
              <a:t>商贸智脑期待与市场、品牌伙伴合作，一起帮助更多商户：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834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B8A6"/>
                </a:solidFill>
                <a:latin typeface="微软雅黑"/>
                <a:ea typeface="微软雅黑"/>
              </a:rPr>
              <a:t>经营更简单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把重复劳动交给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886200"/>
            <a:ext cx="2834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B8A6"/>
                </a:solidFill>
                <a:latin typeface="微软雅黑"/>
                <a:ea typeface="微软雅黑"/>
              </a:rPr>
              <a:t>管理更智能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891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用数据驱动日常决策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65760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3886200"/>
            <a:ext cx="2834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B8A6"/>
                </a:solidFill>
                <a:latin typeface="微软雅黑"/>
                <a:ea typeface="微软雅黑"/>
              </a:rPr>
              <a:t>生意更增长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438912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把精力放在客户与增长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4748B"/>
                </a:solidFill>
                <a:latin typeface="微软雅黑"/>
                <a:ea typeface="微软雅黑"/>
              </a:rPr>
              <a:t>杭州巨猿科技有限公司  ·  trademind.com.cn  ·  商务合作洽谈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